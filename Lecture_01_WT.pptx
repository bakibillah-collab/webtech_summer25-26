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3" r:id="rId4"/>
    <p:sldId id="266" r:id="rId5"/>
    <p:sldId id="280" r:id="rId6"/>
    <p:sldId id="268"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1" r:id="rId20"/>
    <p:sldId id="272" r:id="rId21"/>
    <p:sldId id="273" r:id="rId22"/>
    <p:sldId id="274" r:id="rId23"/>
    <p:sldId id="275" r:id="rId24"/>
    <p:sldId id="276" r:id="rId25"/>
    <p:sldId id="277" r:id="rId26"/>
    <p:sldId id="258" r:id="rId27"/>
    <p:sldId id="302" r:id="rId28"/>
    <p:sldId id="278" r:id="rId29"/>
    <p:sldId id="293" r:id="rId30"/>
    <p:sldId id="294" r:id="rId31"/>
    <p:sldId id="295" r:id="rId32"/>
    <p:sldId id="296" r:id="rId33"/>
    <p:sldId id="279" r:id="rId34"/>
    <p:sldId id="299" r:id="rId35"/>
    <p:sldId id="300" r:id="rId36"/>
    <p:sldId id="301" r:id="rId37"/>
    <p:sldId id="297" r:id="rId38"/>
    <p:sldId id="298" r:id="rId39"/>
    <p:sldId id="304" r:id="rId40"/>
    <p:sldId id="305" r:id="rId41"/>
    <p:sldId id="306" r:id="rId42"/>
    <p:sldId id="264" r:id="rId43"/>
    <p:sldId id="26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3C8D98-0676-4EE7-9C67-73F37A95B377}" v="2" dt="2026-06-09T05:01:58.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00" d="100"/>
          <a:sy n="100" d="100"/>
        </p:scale>
        <p:origin x="191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 AL MAMUN RUDRO" userId="24b27b9a-aab3-4351-8aca-a88306e0f932" providerId="ADAL" clId="{DB9BBBDC-F455-4572-BF35-B25E0968203C}"/>
    <pc:docChg chg="custSel modSld">
      <pc:chgData name="RIFAT AL MAMUN RUDRO" userId="24b27b9a-aab3-4351-8aca-a88306e0f932" providerId="ADAL" clId="{DB9BBBDC-F455-4572-BF35-B25E0968203C}" dt="2026-06-09T05:01:58.971" v="17"/>
      <pc:docMkLst>
        <pc:docMk/>
      </pc:docMkLst>
      <pc:sldChg chg="modSp mod">
        <pc:chgData name="RIFAT AL MAMUN RUDRO" userId="24b27b9a-aab3-4351-8aca-a88306e0f932" providerId="ADAL" clId="{DB9BBBDC-F455-4572-BF35-B25E0968203C}" dt="2026-06-09T05:01:58.971" v="17"/>
        <pc:sldMkLst>
          <pc:docMk/>
          <pc:sldMk cId="4059042058" sldId="291"/>
        </pc:sldMkLst>
        <pc:spChg chg="mod">
          <ac:chgData name="RIFAT AL MAMUN RUDRO" userId="24b27b9a-aab3-4351-8aca-a88306e0f932" providerId="ADAL" clId="{DB9BBBDC-F455-4572-BF35-B25E0968203C}" dt="2026-06-09T05:01:58.971" v="17"/>
          <ac:spMkLst>
            <pc:docMk/>
            <pc:sldMk cId="4059042058" sldId="291"/>
            <ac:spMk id="5" creationId="{53BED9D7-DC35-6145-B086-E1B62BC0834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6/9/2026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mun.rudro@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Cambria" panose="02040503050406030204" pitchFamily="18" charset="0"/>
                <a:ea typeface="Cambria" panose="02040503050406030204" pitchFamily="18" charset="0"/>
              </a:rPr>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ea typeface="Cambria" panose="02040503050406030204" pitchFamily="18" charset="0"/>
              </a:rPr>
              <a:t>Course Code: </a:t>
            </a:r>
            <a:r>
              <a:rPr lang="en-US" altLang="en-US" b="1" dirty="0">
                <a:latin typeface="Cambria" panose="02040503050406030204" pitchFamily="18" charset="0"/>
                <a:ea typeface="Cambria" panose="02040503050406030204" pitchFamily="18" charset="0"/>
              </a:rPr>
              <a:t>CSC 3222</a:t>
            </a:r>
            <a:endParaRPr lang="en-US" dirty="0">
              <a:latin typeface="Cambria" panose="02040503050406030204" pitchFamily="18" charset="0"/>
              <a:ea typeface="Cambria" panose="02040503050406030204" pitchFamily="18" charset="0"/>
            </a:endParaRP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ea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5579165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Spring 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 Al Mamun Rudro (</a:t>
                      </a:r>
                      <a:r>
                        <a:rPr lang="en-US" i="1" dirty="0">
                          <a:hlinkClick r:id="rId2"/>
                        </a:rPr>
                        <a:t>mamun.rudro@aiub.edu</a:t>
                      </a:r>
                      <a:r>
                        <a:rPr lang="en-US" i="1" dirty="0"/>
                        <a:t>)  </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ea typeface="Cambria" panose="02040503050406030204" pitchFamily="18" charset="0"/>
              </a:rPr>
              <a:t>Course Title: </a:t>
            </a:r>
            <a:r>
              <a:rPr lang="en-US" altLang="en-US" dirty="0">
                <a:latin typeface="Cambria" panose="02040503050406030204" pitchFamily="18" charset="0"/>
                <a:ea typeface="Cambria" panose="02040503050406030204" pitchFamily="18" charset="0"/>
              </a:rPr>
              <a:t>WEB TECHNOLOGIES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a:t>
            </a:r>
          </a:p>
        </p:txBody>
      </p:sp>
      <p:sp>
        <p:nvSpPr>
          <p:cNvPr id="3" name="Subtitle 2"/>
          <p:cNvSpPr>
            <a:spLocks noGrp="1"/>
          </p:cNvSpPr>
          <p:nvPr>
            <p:ph type="subTitle" idx="1"/>
          </p:nvPr>
        </p:nvSpPr>
        <p:spPr>
          <a:xfrm>
            <a:off x="344128" y="2142309"/>
            <a:ext cx="8495071" cy="3944981"/>
          </a:xfrm>
        </p:spPr>
        <p:txBody>
          <a:bodyPr>
            <a:normAutofit fontScale="70000" lnSpcReduction="20000"/>
          </a:bodyPr>
          <a:lstStyle/>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Objectives</a:t>
            </a:r>
          </a:p>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Logistics and Learning Objectives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Internet </a:t>
            </a:r>
            <a:r>
              <a:rPr lang="en-US" sz="2600" b="1" dirty="0" err="1">
                <a:solidFill>
                  <a:schemeClr val="tx1"/>
                </a:solidFill>
                <a:latin typeface="Cambria" panose="02040503050406030204" pitchFamily="18" charset="0"/>
                <a:ea typeface="Cambria" panose="02040503050406030204" pitchFamily="18" charset="0"/>
              </a:rPr>
              <a:t>vs</a:t>
            </a:r>
            <a:r>
              <a:rPr lang="en-US" sz="2600" b="1" dirty="0">
                <a:solidFill>
                  <a:schemeClr val="tx1"/>
                </a:solidFill>
                <a:latin typeface="Cambria" panose="02040503050406030204" pitchFamily="18" charset="0"/>
                <a:ea typeface="Cambria" panose="02040503050406030204" pitchFamily="18" charset="0"/>
              </a:rPr>
              <a:t> WWW</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Uniform Resource Identifier (URI)</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Browsers</a:t>
            </a:r>
            <a:endParaRPr lang="en-US" sz="24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HTTP protocol</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 Process of http</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Steps</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HTML </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What is the DOM?</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DHTML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Book</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References</a:t>
            </a: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294968" y="2435897"/>
            <a:ext cx="8524567" cy="3108543"/>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Design and develop real life and society targeted Client-Server based Web applications.</a:t>
            </a:r>
            <a:endParaRPr lang="en-US" altLang="en-US"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Lab Work and Assignment</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44129" y="2435897"/>
            <a:ext cx="8534400" cy="3046988"/>
          </a:xfrm>
          <a:prstGeom prst="rect">
            <a:avLst/>
          </a:prstGeom>
          <a:noFill/>
        </p:spPr>
        <p:txBody>
          <a:bodyPr wrap="square" rtlCol="0">
            <a:spAutoFit/>
          </a:bodyPr>
          <a:lstStyle/>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 theory class will be followed by a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We will run and test lab work in every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There will be an assessment in every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Everyone must have </a:t>
            </a:r>
            <a:r>
              <a:rPr lang="en-US" sz="2400" b="1" dirty="0" err="1">
                <a:latin typeface="Cambria" panose="02040503050406030204" pitchFamily="18" charset="0"/>
                <a:ea typeface="Cambria" panose="02040503050406030204" pitchFamily="18" charset="0"/>
              </a:rPr>
              <a:t>github</a:t>
            </a:r>
            <a:r>
              <a:rPr lang="en-US" sz="2400" b="1" dirty="0">
                <a:latin typeface="Cambria" panose="02040503050406030204" pitchFamily="18" charset="0"/>
                <a:ea typeface="Cambria" panose="02040503050406030204" pitchFamily="18" charset="0"/>
              </a:rPr>
              <a:t> account(version control).</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All assignments and project(lab tasks) push in the </a:t>
            </a:r>
            <a:r>
              <a:rPr lang="en-US" sz="2400" dirty="0" err="1">
                <a:latin typeface="Cambria" panose="02040503050406030204" pitchFamily="18" charset="0"/>
                <a:ea typeface="Cambria" panose="02040503050406030204" pitchFamily="18" charset="0"/>
              </a:rPr>
              <a:t>github</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repositories.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Please submit your </a:t>
            </a:r>
            <a:r>
              <a:rPr lang="en-US" sz="2400" dirty="0" err="1">
                <a:latin typeface="Cambria" panose="02040503050406030204" pitchFamily="18" charset="0"/>
                <a:ea typeface="Cambria" panose="02040503050406030204" pitchFamily="18" charset="0"/>
              </a:rPr>
              <a:t>github</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webtech</a:t>
            </a:r>
            <a:r>
              <a:rPr lang="en-US" sz="2400" dirty="0">
                <a:latin typeface="Cambria" panose="02040503050406030204" pitchFamily="18" charset="0"/>
                <a:ea typeface="Cambria" panose="02040503050406030204" pitchFamily="18" charset="0"/>
              </a:rPr>
              <a:t> repository in the first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Deploy your application on </a:t>
            </a:r>
            <a:r>
              <a:rPr lang="en-US" sz="2400" dirty="0">
                <a:latin typeface="Cambria" panose="02040503050406030204" pitchFamily="18" charset="0"/>
                <a:ea typeface="Cambria" panose="02040503050406030204" pitchFamily="18" charset="0"/>
                <a:hlinkClick r:id="rId2"/>
              </a:rPr>
              <a:t>www.heroku.com</a:t>
            </a:r>
            <a:r>
              <a:rPr lang="en-US" sz="2400" dirty="0">
                <a:latin typeface="Cambria" panose="02040503050406030204" pitchFamily="18" charset="0"/>
                <a:ea typeface="Cambria" panose="02040503050406030204" pitchFamily="18" charset="0"/>
              </a:rPr>
              <a:t> if possible.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2389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Required software and tools</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24466" y="2435897"/>
            <a:ext cx="8524566" cy="2246769"/>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rPr>
              <a:t>Text editor to write HTML, CSS, JavaScript, </a:t>
            </a:r>
            <a:r>
              <a:rPr lang="en-US" sz="2800" dirty="0" err="1">
                <a:latin typeface="Cambria" panose="02040503050406030204" pitchFamily="18" charset="0"/>
                <a:ea typeface="Cambria" panose="02040503050406030204" pitchFamily="18" charset="0"/>
              </a:rPr>
              <a:t>php</a:t>
            </a:r>
            <a:r>
              <a:rPr lang="en-US" sz="2800" dirty="0">
                <a:latin typeface="Cambria" panose="02040503050406030204" pitchFamily="18" charset="0"/>
                <a:ea typeface="Cambria" panose="02040503050406030204" pitchFamily="18" charset="0"/>
              </a:rPr>
              <a:t> code. E.g. Sublime Text, Note Pad ++,VS code, atoms, etc.</a:t>
            </a:r>
          </a:p>
          <a:p>
            <a:pPr marL="285750" indent="-285750">
              <a:buFont typeface="Arial" pitchFamily="34" charset="0"/>
              <a:buChar char="•"/>
            </a:pPr>
            <a:r>
              <a:rPr lang="en-US" sz="2800" dirty="0">
                <a:latin typeface="Cambria" panose="02040503050406030204" pitchFamily="18" charset="0"/>
                <a:ea typeface="Cambria" panose="02040503050406030204" pitchFamily="18" charset="0"/>
              </a:rPr>
              <a:t>Modern browser and server need to test them out. E.g. – google chrome(browser), XAMPP(</a:t>
            </a:r>
            <a:r>
              <a:rPr lang="en-US" sz="2800" dirty="0" err="1">
                <a:latin typeface="Cambria" panose="02040503050406030204" pitchFamily="18" charset="0"/>
                <a:ea typeface="Cambria" panose="02040503050406030204" pitchFamily="18" charset="0"/>
              </a:rPr>
              <a:t>apache</a:t>
            </a:r>
            <a:r>
              <a:rPr lang="en-US" sz="2800" dirty="0">
                <a:latin typeface="Cambria" panose="02040503050406030204" pitchFamily="18" charset="0"/>
                <a:ea typeface="Cambria" panose="02040503050406030204" pitchFamily="18" charset="0"/>
              </a:rPr>
              <a:t> server).</a:t>
            </a:r>
          </a:p>
        </p:txBody>
      </p:sp>
    </p:spTree>
    <p:extLst>
      <p:ext uri="{BB962C8B-B14F-4D97-AF65-F5344CB8AC3E}">
        <p14:creationId xmlns:p14="http://schemas.microsoft.com/office/powerpoint/2010/main" val="126775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785652"/>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a:p>
            <a:pPr marL="800100" lvl="1" indent="-342900" algn="just">
              <a:buFont typeface="Arial" pitchFamily="34" charset="0"/>
              <a:buChar char="•"/>
            </a:pPr>
            <a:endParaRPr lang="en-US" altLang="en-US" sz="2400" dirty="0"/>
          </a:p>
          <a:p>
            <a:pPr marL="800100" lvl="1" indent="-342900" algn="just">
              <a:buFont typeface="Arial" pitchFamily="34" charset="0"/>
              <a:buChar char="•"/>
            </a:pPr>
            <a:r>
              <a:rPr lang="en-US" altLang="en-US" sz="2400" dirty="0"/>
              <a:t>https://portal.aiub.edu/Login?ReturnUrl=%2fStudent</a:t>
            </a:r>
          </a:p>
        </p:txBody>
      </p:sp>
    </p:spTree>
    <p:extLst>
      <p:ext uri="{BB962C8B-B14F-4D97-AF65-F5344CB8AC3E}">
        <p14:creationId xmlns:p14="http://schemas.microsoft.com/office/powerpoint/2010/main" val="405904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2093</TotalTime>
  <Words>3447</Words>
  <Application>Microsoft Office PowerPoint</Application>
  <PresentationFormat>On-screen Show (4:3)</PresentationFormat>
  <Paragraphs>288</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Cambria</vt:lpstr>
      <vt:lpstr>Consolas</vt:lpstr>
      <vt:lpstr>Corbel</vt:lpstr>
      <vt:lpstr>Times New Roman</vt:lpstr>
      <vt:lpstr>Wingdings</vt:lpstr>
      <vt:lpstr>Spectrum</vt:lpstr>
      <vt:lpstr>Introduction to Web Technology</vt:lpstr>
      <vt:lpstr>Lecture Outline</vt:lpstr>
      <vt:lpstr>Lecture Outline(contd.)</vt:lpstr>
      <vt:lpstr>Course Objectives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 AL MAMUN RUDRO</cp:lastModifiedBy>
  <cp:revision>112</cp:revision>
  <dcterms:created xsi:type="dcterms:W3CDTF">2018-12-10T17:20:29Z</dcterms:created>
  <dcterms:modified xsi:type="dcterms:W3CDTF">2026-06-09T05:02:05Z</dcterms:modified>
</cp:coreProperties>
</file>